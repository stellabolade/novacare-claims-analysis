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6382E1-68ED-496C-B4A9-34816DC6472A}">
  <a:tblStyle styleId="{F36382E1-68ED-496C-B4A9-34816DC647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1" i="0" sz="4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NovaCare Insurance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365760" y="1463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1" i="0" sz="4200" u="none" cap="none" strike="noStrike">
              <a:solidFill>
                <a:srgbClr val="C0392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Claims Denial Crisis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365760" y="21031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Strategic Review for the Chief Financial Officer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365760" y="2880360"/>
            <a:ext cx="1920240" cy="1188720"/>
          </a:xfrm>
          <a:prstGeom prst="rect">
            <a:avLst/>
          </a:prstGeom>
          <a:solidFill>
            <a:srgbClr val="1E2D3F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29718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A020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E6A020"/>
                </a:solidFill>
                <a:latin typeface="Georgia"/>
                <a:ea typeface="Georgia"/>
                <a:cs typeface="Georgia"/>
                <a:sym typeface="Georgia"/>
              </a:rPr>
              <a:t>$18M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349300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A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AB"/>
                </a:solidFill>
                <a:latin typeface="Calibri"/>
                <a:ea typeface="Calibri"/>
                <a:cs typeface="Calibri"/>
                <a:sym typeface="Calibri"/>
              </a:rPr>
              <a:t>Total Billed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423160" y="2880360"/>
            <a:ext cx="1920240" cy="1188720"/>
          </a:xfrm>
          <a:prstGeom prst="rect">
            <a:avLst/>
          </a:prstGeom>
          <a:solidFill>
            <a:srgbClr val="1E2D3F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2514600" y="29718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A020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E6A020"/>
                </a:solidFill>
                <a:latin typeface="Georgia"/>
                <a:ea typeface="Georgia"/>
                <a:cs typeface="Georgia"/>
                <a:sym typeface="Georgia"/>
              </a:rPr>
              <a:t>39.58%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514600" y="349300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A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AB"/>
                </a:solidFill>
                <a:latin typeface="Calibri"/>
                <a:ea typeface="Calibri"/>
                <a:cs typeface="Calibri"/>
                <a:sym typeface="Calibri"/>
              </a:rPr>
              <a:t>Denial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480560" y="2880360"/>
            <a:ext cx="1920240" cy="1188720"/>
          </a:xfrm>
          <a:prstGeom prst="rect">
            <a:avLst/>
          </a:prstGeom>
          <a:solidFill>
            <a:srgbClr val="1E2D3F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572000" y="29718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A020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E6A020"/>
                </a:solidFill>
                <a:latin typeface="Georgia"/>
                <a:ea typeface="Georgia"/>
                <a:cs typeface="Georgia"/>
                <a:sym typeface="Georgia"/>
              </a:rPr>
              <a:t>$7.22M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0" y="349300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A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AB"/>
                </a:solidFill>
                <a:latin typeface="Calibri"/>
                <a:ea typeface="Calibri"/>
                <a:cs typeface="Calibri"/>
                <a:sym typeface="Calibri"/>
              </a:rPr>
              <a:t>Revenue Leakage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537960" y="2880360"/>
            <a:ext cx="1920240" cy="1188720"/>
          </a:xfrm>
          <a:prstGeom prst="rect">
            <a:avLst/>
          </a:prstGeom>
          <a:solidFill>
            <a:srgbClr val="1E2D3F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629400" y="29718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A020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E6A020"/>
                </a:solidFill>
                <a:latin typeface="Georgia"/>
                <a:ea typeface="Georgia"/>
                <a:cs typeface="Georgia"/>
                <a:sym typeface="Georgia"/>
              </a:rPr>
              <a:t>$2.46M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629400" y="349300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A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AB"/>
                </a:solidFill>
                <a:latin typeface="Calibri"/>
                <a:ea typeface="Calibri"/>
                <a:cs typeface="Calibri"/>
                <a:sym typeface="Calibri"/>
              </a:rPr>
              <a:t>Recoverable Now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4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5470"/>
                </a:solidFill>
                <a:latin typeface="Calibri"/>
                <a:ea typeface="Calibri"/>
                <a:cs typeface="Calibri"/>
                <a:sym typeface="Calibri"/>
              </a:rPr>
              <a:t>April 2026  |  Based on full claims dataset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3656"/>
            <a:ext cx="1120237" cy="1082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13" y="163621"/>
            <a:ext cx="8474174" cy="481625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PAGE 1  —  WHAT IS THE SCALE OF THE PROBLEM?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0" y="0"/>
            <a:ext cx="137160" cy="6583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PAGE 2  —  WHERE IS THE PROBLEM CONCENTRATED?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37160" y="4234374"/>
            <a:ext cx="8823960" cy="703385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8580" y="3891108"/>
            <a:ext cx="631287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A020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E6A020"/>
                </a:solidFill>
                <a:latin typeface="Georgia"/>
                <a:ea typeface="Georgia"/>
                <a:cs typeface="Georgia"/>
                <a:sym typeface="Georgia"/>
              </a:rPr>
              <a:t>Key Concentration Findings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82880" y="4303320"/>
            <a:ext cx="864108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Top provider: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Dr. Yetunde Okafor — Viral Infection cases hit 71% denial rate</a:t>
            </a:r>
            <a:b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Top diagnosis: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Gastroenteritis drives highest volume of denials</a:t>
            </a:r>
            <a:b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00">
                <a:solidFill>
                  <a:srgbClr val="E6A020"/>
                </a:solidFill>
                <a:latin typeface="Calibri"/>
                <a:ea typeface="Calibri"/>
                <a:cs typeface="Calibri"/>
                <a:sym typeface="Calibri"/>
              </a:rPr>
              <a:t>Duplicate &amp; Eligibility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denial rates exceed 90% — pure process failures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29" y="749808"/>
            <a:ext cx="8982222" cy="314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0" y="0"/>
            <a:ext cx="137160" cy="658368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PAGE 3  —  WHAT IS IT COSTING US?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8580" y="4515729"/>
            <a:ext cx="8778240" cy="512064"/>
          </a:xfrm>
          <a:prstGeom prst="rect">
            <a:avLst/>
          </a:prstGeom>
          <a:solidFill>
            <a:srgbClr val="FEECE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137160" y="457200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40% of billed revenue is leaking. Duplicate Claim errors alone account for $1.4M. The $2.46M in Pending + Appealed claims is recoverable if actioned within 30 days.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94945"/>
            <a:ext cx="9144000" cy="3712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TOP 3 DENIAL DRIVERS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274320" y="822960"/>
            <a:ext cx="8595360" cy="1170432"/>
          </a:xfrm>
          <a:prstGeom prst="rect">
            <a:avLst/>
          </a:prstGeom>
          <a:solidFill>
            <a:srgbClr val="1E2D3F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274320" y="822960"/>
            <a:ext cx="109728" cy="117043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457200" y="89611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1005840" y="91440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Duplicate Claims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1005840" y="1225296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91.88% Denial Rate  |  $1.4M Leakage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005840" y="1463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480 duplicate claims were filed — the single largest source of preventable denials. With a 91.88% denial rate, almost every duplicate is rejected, yet they keep being submitted. This points to a broken claims intake process, not a clinical problem.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74320" y="2148840"/>
            <a:ext cx="8595360" cy="1170432"/>
          </a:xfrm>
          <a:prstGeom prst="rect">
            <a:avLst/>
          </a:prstGeom>
          <a:solidFill>
            <a:srgbClr val="1E2D3F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274320" y="2148840"/>
            <a:ext cx="109728" cy="1170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457200" y="222199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1005840" y="224028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Patient Eligibility Failures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05840" y="2551176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90.17% Denial Rate  |  $0.9M Leakage</a:t>
            </a:r>
            <a:endParaRPr sz="11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Patient eligibility is not being verified before services are rendered or claims are filed. A 90% denial rate means staff are submitting claims for patients whose coverage is already lapsed or out-of-network — a fixable process gap.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274320" y="3474720"/>
            <a:ext cx="8595360" cy="1170432"/>
          </a:xfrm>
          <a:prstGeom prst="rect">
            <a:avLst/>
          </a:prstGeom>
          <a:solidFill>
            <a:srgbClr val="1E2D3F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274320" y="3474720"/>
            <a:ext cx="109728" cy="1170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502920" y="355701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005840" y="356616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Missing Authorization &amp; Timely Filing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1005840" y="3877056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89.24% + 88.29% Denial Rates  |  $1.7M Combined</a:t>
            </a:r>
            <a:endParaRPr sz="11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005840" y="41148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Pre-authorization is not being obtained before high-cost services, and completed claims are not being filed within payer deadlines. Both are entirely preventable with workflow controls and staff training.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0" y="0"/>
            <a:ext cx="137160" cy="658368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 SPECIFIC RECOMMENDATIONS FOR THE CFO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228600" y="804672"/>
            <a:ext cx="86868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228600" y="804672"/>
            <a:ext cx="109728" cy="11887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384048" y="87782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R1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896112" y="877824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C3E50"/>
                </a:solidFill>
                <a:latin typeface="Georgia"/>
                <a:ea typeface="Georgia"/>
                <a:cs typeface="Georgia"/>
                <a:sym typeface="Georgia"/>
              </a:rPr>
              <a:t>Deploy a Real-Time Duplicate Detection System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7296912" y="877824"/>
            <a:ext cx="1536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Potential Recovery: $1.4M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896112" y="1225296"/>
            <a:ext cx="79369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480 duplicate claims represent the single most actionable fix. Implementing a pre-submission duplicate check — comparing claim ID, patient ID, date of service, and procedure code — would eliminate this at source. Industry-standard claims management systems (e.g. Availity, Waystar) provide this natively. Target: zero duplicate submissions within 60 days.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228600" y="2075688"/>
            <a:ext cx="86868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228600" y="2075688"/>
            <a:ext cx="109728" cy="1188720"/>
          </a:xfrm>
          <a:prstGeom prst="rect">
            <a:avLst/>
          </a:prstGeom>
          <a:solidFill>
            <a:srgbClr val="D4860A"/>
          </a:solidFill>
          <a:ln cap="flat" cmpd="sng" w="12700">
            <a:solidFill>
              <a:srgbClr val="D486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384048" y="21488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860A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D4860A"/>
                </a:solidFill>
                <a:latin typeface="Georgia"/>
                <a:ea typeface="Georgia"/>
                <a:cs typeface="Georgia"/>
                <a:sym typeface="Georgia"/>
              </a:rPr>
              <a:t>R2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896112" y="21488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C3E50"/>
                </a:solidFill>
                <a:latin typeface="Georgia"/>
                <a:ea typeface="Georgia"/>
                <a:cs typeface="Georgia"/>
                <a:sym typeface="Georgia"/>
              </a:rPr>
              <a:t>Mandate Eligibility Verification Before Every Service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7296912" y="2148840"/>
            <a:ext cx="1536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4860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D4860A"/>
                </a:solidFill>
                <a:latin typeface="Calibri"/>
                <a:ea typeface="Calibri"/>
                <a:cs typeface="Calibri"/>
                <a:sym typeface="Calibri"/>
              </a:rPr>
              <a:t>Potential Recovery: $0.9M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896112" y="2496312"/>
            <a:ext cx="79369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Patient eligibility checks must occur at the point of scheduling, not at the point of billing. A 90.17% denial rate on eligibility means patients are being seen whose coverage is already invalid. Integrate real-time eligibility verification (REV) into the registration workflow. This is a 30-day operational fix that requires no new technology — most EHR systems have this capability unused.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228600" y="3346704"/>
            <a:ext cx="86868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228600" y="3346704"/>
            <a:ext cx="109728" cy="118872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384048" y="341985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2E7D32"/>
                </a:solidFill>
                <a:latin typeface="Georgia"/>
                <a:ea typeface="Georgia"/>
                <a:cs typeface="Georgia"/>
                <a:sym typeface="Georgia"/>
              </a:rPr>
              <a:t>R3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896112" y="3419856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C3E50"/>
                </a:solidFill>
                <a:latin typeface="Georgia"/>
                <a:ea typeface="Georgia"/>
                <a:cs typeface="Georgia"/>
                <a:sym typeface="Georgia"/>
              </a:rPr>
              <a:t>Act on the $2.46M in Pending &amp; Appealed Claims Now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7296912" y="3419856"/>
            <a:ext cx="1536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Recoverable: $2.46M within 30 days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896112" y="3767328"/>
            <a:ext cx="79369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There is $2.46M sitting in Pending and Appealed status today. These claims have already been filed — the only thing standing between NovaCare and this revenue is follow-through. Assign a dedicated team to work this queue within 30 days before payer deadlines extinguish recovery rights. Prioritize Pediatrics and Emergency departments which show the highest denial rates (41.45% and 40.71%).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WE WOULD INVESTIGATE NEXT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274320" y="804672"/>
            <a:ext cx="4160520" cy="1627632"/>
          </a:xfrm>
          <a:prstGeom prst="rect">
            <a:avLst/>
          </a:prstGeom>
          <a:solidFill>
            <a:srgbClr val="1E2D3F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274320" y="804672"/>
            <a:ext cx="4160520" cy="731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411480" y="93268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Dr. Yetunde Okafor — 71% Denial Rate on Viral Infection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411480" y="1335024"/>
            <a:ext cx="38862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This is a statistical outlier. A 71% denial rate on a single provider-diagnosis combination warrants a clinical and billing audit. Is this a coding issue, a medical necessity documentation gap, or a payer-specific pattern? A focused review of 30 claims could answer this within two weeks.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709160" y="804672"/>
            <a:ext cx="4160520" cy="1627632"/>
          </a:xfrm>
          <a:prstGeom prst="rect">
            <a:avLst/>
          </a:prstGeom>
          <a:solidFill>
            <a:srgbClr val="1E2D3F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4709160" y="804672"/>
            <a:ext cx="4160520" cy="73152"/>
          </a:xfrm>
          <a:prstGeom prst="rect">
            <a:avLst/>
          </a:prstGeom>
          <a:solidFill>
            <a:srgbClr val="D4860A"/>
          </a:solidFill>
          <a:ln cap="flat" cmpd="sng" w="12700">
            <a:solidFill>
              <a:srgbClr val="D486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846320" y="93268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177 Date Errors — Are They Systemic?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846320" y="1335024"/>
            <a:ext cx="38862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177 claims contain date errors. This volume is too large to be random human error. We need to trace whether these originate from a specific EHR module, department, or registration staff cohort. If a single system misconfiguration is creating date errors at scale, one IT fix closes all 177.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274320" y="2606040"/>
            <a:ext cx="4160520" cy="1627632"/>
          </a:xfrm>
          <a:prstGeom prst="rect">
            <a:avLst/>
          </a:prstGeom>
          <a:solidFill>
            <a:srgbClr val="1E2D3F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274320" y="2606040"/>
            <a:ext cx="4160520" cy="7315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411480" y="2734056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Government &amp; Self-Pay Payer Mix (40.9% Denial Rate)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411480" y="3136392"/>
            <a:ext cx="38862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Government payers (40.9%) and Self-Pay patients (40.6%) carry the highest denial rates. The Self-Pay cohort in particular may include patients who were never adequately screened for coverage eligibility or charity care programs. A deeper payer-mix analysis could reveal whether NovaCare is systematically leaving safety-net revenue uncollected.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709160" y="2606040"/>
            <a:ext cx="4160520" cy="1627632"/>
          </a:xfrm>
          <a:prstGeom prst="rect">
            <a:avLst/>
          </a:prstGeom>
          <a:solidFill>
            <a:srgbClr val="1E2D3F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4709160" y="2606040"/>
            <a:ext cx="4160520" cy="73152"/>
          </a:xfrm>
          <a:prstGeom prst="rect">
            <a:avLst/>
          </a:prstGeom>
          <a:solidFill>
            <a:srgbClr val="8A9BAB"/>
          </a:solidFill>
          <a:ln cap="flat" cmpd="sng" w="12700">
            <a:solidFill>
              <a:srgbClr val="8A9B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4846320" y="2734056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Pediatrics Department — Highest Departmental Denial Rate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846320" y="3136392"/>
            <a:ext cx="38862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Pediatrics leads all departments at 41.45% — higher than even Emergency. This is unusual because pediatric billing is typically predictable. We want to understand whether this is driven by guardian eligibility lapses, referral authorization gaps, or a particular diagnosis cluster. Isolating the top 5 denial reasons in Pediatrics alone could unlock $0.3–0.5M in recovery.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01C2A"/>
          </a:solidFill>
          <a:ln cap="flat" cmpd="sng" w="12700">
            <a:solidFill>
              <a:srgbClr val="101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4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A5470"/>
                </a:solidFill>
                <a:latin typeface="Calibri"/>
                <a:ea typeface="Calibri"/>
                <a:cs typeface="Calibri"/>
                <a:sym typeface="Calibri"/>
              </a:rPr>
              <a:t>NovaCare Insurance  |  Claims Analysis — CFO Briefing  |  April 2026  |  CONFIDENTIAL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3E50"/>
          </a:solidFill>
          <a:ln cap="flat" cmpd="sng" w="12700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APPENDIX — AT A GLANCE SUMMARY TABLE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0"/>
          <p:cNvGraphicFramePr/>
          <p:nvPr/>
        </p:nvGraphicFramePr>
        <p:xfrm>
          <a:off x="27432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{F36382E1-68ED-496C-B4A9-34816DC6472A}</a:tableStyleId>
              </a:tblPr>
              <a:tblGrid>
                <a:gridCol w="2560325"/>
                <a:gridCol w="1645925"/>
                <a:gridCol w="2560325"/>
                <a:gridCol w="17373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 / Context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40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Claims Filed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6,150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Industry varies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Denial Rate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39.58%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Industry avg: 5–10%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Revenue Billed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$18M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Lost to Denials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$7.22M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 leakage rate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Leakage from Duplicates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$1.4M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Should be $0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NEEDED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Recoverable (Pending+Appealed)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$2.46M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Time-sensitive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 NOW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Denial Reason Rate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91.88% (Duplicates)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Should be &lt;5%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Provider Denial Rate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71% — Dr. Yetunde Okafor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 for audit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INVESTIGATE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Department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Pediatrics 41.45%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Unexpectedly 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INVESTIGATE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Errors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177 claims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Likely systemic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NEEDED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Duplicate Claims Filed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Should be 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 IMMEDIATELY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